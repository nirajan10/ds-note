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23f14d1-353a-cbc0-35ee-91b3f4e9fe82}">
          <p14:sldIdLst>
            <p14:sldId id="256"/>
            <p14:sldId id="257"/>
          </p14:sldIdLst>
        </p14:section>
        <p14:section name="Data science" id="{4ec911eb-9681-e2b1-1e7a-4f00bcaa59b3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ython" id="{43b6e691-92e7-f440-e1e4-73300f7bc73d}">
          <p14:sldIdLst>
            <p14:sldId id="264"/>
            <p14:sldId id="265"/>
            <p14:sldId id="266"/>
          </p14:sldIdLst>
        </p14:section>
        <p14:section name="Setup" id="{16b9089e-9ae7-e3d3-cafe-bd6860d59453}">
          <p14:sldIdLst>
            <p14:sldId id="267"/>
            <p14:sldId id="268"/>
            <p14:sldId id="269"/>
          </p14:sldIdLst>
        </p14:section>
        <p14:section name="Wrap-up" id="{1252e4e3-bb5e-9484-ef8e-00f96a4f3047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02E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4202E"/>
                </a:solidFill>
                <a:latin typeface="Arial"/>
              </a:rPr>
              <a:t>Mobile data used (MB)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MB used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0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Day 1</c:v>
                  </c:pt>
                  <c:pt idx="1">
                    <c:v>Day 2</c:v>
                  </c:pt>
                  <c:pt idx="2">
                    <c:v>Day 3</c:v>
                  </c:pt>
                  <c:pt idx="3">
                    <c:v>Day 4</c:v>
                  </c:pt>
                  <c:pt idx="4">
                    <c:v>Day 5</c:v>
                  </c:pt>
                  <c:pt idx="5">
                    <c:v>Day 6</c:v>
                  </c:pt>
                  <c:pt idx="6">
                    <c:v>Day 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824</c:v>
                </c:pt>
                <c:pt idx="1">
                  <c:v>922</c:v>
                </c:pt>
                <c:pt idx="2">
                  <c:v>889</c:v>
                </c:pt>
                <c:pt idx="3">
                  <c:v>838</c:v>
                </c:pt>
                <c:pt idx="4">
                  <c:v>827</c:v>
                </c:pt>
                <c:pt idx="5">
                  <c:v>945</c:v>
                </c:pt>
                <c:pt idx="6">
                  <c:v>1344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0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1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FE4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1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Unit I has two parts: what data science is, and how to get Python running. Full text is on the Unit I page of the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goals for this unit. Matches the learning objectives on the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is a record of facts. Data science uses data to answer questions and make better decisions. Example: the teacher with 40 students'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class. Your phone records data use every day. What question could that record answer? Real numbers: first 7 days of mobile_data.csv.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starts with a question, uses data that already exists, and ends with a better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steps, and the cycle starts again because every answer raises a new question. Units VII to X follow these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one example through the six steps. The owner wants to know what to 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mark was typed as the word absent. Adding the marks fails. This is why the cleaning step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is a programming language, a way of giving instructions to a computer. Five reasons it suits beginners and professionals.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library is a ready-made toolbox of code written by other people. These are the ones this course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a taste. Unit II teaches each idea in detail. Notice how plain the code looks.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ways to get Python. Anaconda and Miniconda need conda. Plain Python does not. Colab needs nothing installed. Disk sizes are from Anaconda's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decision diagram as the Setting Up Python page. VS Code is an editor you add after choosing how to get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notebook has text cells and code cells. Run a cell and the result appears right below it. This is a real screenshot from Jupyter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takeaways. Ask the class to say each one in their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Lab 1 from the Lab Sheets page. Unit II starts with variables, data types and operators.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4"/>
                </a:solidFill>
              </a:rPr>
              <a:t>UNIT 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Introduction to Data Science and Python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DSC 481  ·  BCSIT  ·  3 hours</a:t>
            </a:r>
            <a:endParaRPr lang="en-US" sz="1800" dirty="0"/>
          </a:p>
        </p:txBody>
      </p:sp>
      <p:sp>
        <p:nvSpPr>
          <p:cNvPr id="5" name="Database icon circle"/>
          <p:cNvSpPr/>
          <p:nvPr/>
        </p:nvSpPr>
        <p:spPr>
          <a:xfrm>
            <a:off x="6766560" y="100584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Database icon" descr="Databas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9460" y="1348740"/>
            <a:ext cx="685800" cy="685800"/>
          </a:xfrm>
          <a:prstGeom prst="rect">
            <a:avLst/>
          </a:prstGeom>
        </p:spPr>
      </p:pic>
      <p:sp>
        <p:nvSpPr>
          <p:cNvPr id="7" name="ChartBar icon circle"/>
          <p:cNvSpPr/>
          <p:nvPr/>
        </p:nvSpPr>
        <p:spPr>
          <a:xfrm>
            <a:off x="7772400" y="2057400"/>
            <a:ext cx="1188720" cy="11887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ChartBar icon" descr="ChartBa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580" y="2354580"/>
            <a:ext cx="594360" cy="594360"/>
          </a:xfrm>
          <a:prstGeom prst="rect">
            <a:avLst/>
          </a:prstGeom>
        </p:spPr>
      </p:pic>
      <p:sp>
        <p:nvSpPr>
          <p:cNvPr id="9" name="Python icon circle"/>
          <p:cNvSpPr/>
          <p:nvPr/>
        </p:nvSpPr>
        <p:spPr>
          <a:xfrm>
            <a:off x="6400800" y="2834640"/>
            <a:ext cx="1463040" cy="14630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Python icon" descr="Pytho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200400"/>
            <a:ext cx="731520" cy="731520"/>
          </a:xfrm>
          <a:prstGeom prst="rect">
            <a:avLst/>
          </a:prstGeom>
        </p:spPr>
      </p:pic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You Will Learn</a:t>
            </a:r>
            <a:endParaRPr lang="en-US" sz="3600" dirty="0"/>
          </a:p>
        </p:txBody>
      </p:sp>
      <p:sp>
        <p:nvSpPr>
          <p:cNvPr id="4" name="Goal card 1"/>
          <p:cNvSpPr/>
          <p:nvPr/>
        </p:nvSpPr>
        <p:spPr>
          <a:xfrm>
            <a:off x="548640" y="146304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Data science circle"/>
          <p:cNvSpPr/>
          <p:nvPr/>
        </p:nvSpPr>
        <p:spPr>
          <a:xfrm>
            <a:off x="777240" y="17373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Data science" descr="Data sci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Data science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3383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What it is, where it is used</a:t>
            </a:r>
            <a:endParaRPr lang="en-US" sz="1400" dirty="0"/>
          </a:p>
        </p:txBody>
      </p:sp>
      <p:sp>
        <p:nvSpPr>
          <p:cNvPr id="9" name="Goal card 2"/>
          <p:cNvSpPr/>
          <p:nvPr/>
        </p:nvSpPr>
        <p:spPr>
          <a:xfrm>
            <a:off x="2621585" y="146304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he workflow circle"/>
          <p:cNvSpPr/>
          <p:nvPr/>
        </p:nvSpPr>
        <p:spPr>
          <a:xfrm>
            <a:off x="2850185" y="173736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The workflow" descr="The workfl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925" y="194310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850185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workflow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2850185" y="3383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From question to result</a:t>
            </a:r>
            <a:endParaRPr lang="en-US" sz="1400" dirty="0"/>
          </a:p>
        </p:txBody>
      </p:sp>
      <p:sp>
        <p:nvSpPr>
          <p:cNvPr id="14" name="Goal card 3"/>
          <p:cNvSpPr/>
          <p:nvPr/>
        </p:nvSpPr>
        <p:spPr>
          <a:xfrm>
            <a:off x="4694530" y="146304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Why Python circle"/>
          <p:cNvSpPr/>
          <p:nvPr/>
        </p:nvSpPr>
        <p:spPr>
          <a:xfrm>
            <a:off x="4923130" y="173736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Why Python" descr="Why Pyth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870" y="194310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92313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Why Python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4923130" y="3383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tools we use</a:t>
            </a:r>
            <a:endParaRPr lang="en-US" sz="1400" dirty="0"/>
          </a:p>
        </p:txBody>
      </p:sp>
      <p:sp>
        <p:nvSpPr>
          <p:cNvPr id="19" name="Goal card 4"/>
          <p:cNvSpPr/>
          <p:nvPr/>
        </p:nvSpPr>
        <p:spPr>
          <a:xfrm>
            <a:off x="6767474" y="1463040"/>
            <a:ext cx="1828800" cy="27432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etup circle"/>
          <p:cNvSpPr/>
          <p:nvPr/>
        </p:nvSpPr>
        <p:spPr>
          <a:xfrm>
            <a:off x="6996074" y="1737360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Setup" descr="Set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1814" y="19431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96074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Setup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6996074" y="3383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Run your first cell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Is Data Science?</a:t>
            </a:r>
            <a:endParaRPr lang="en-US" sz="3600" dirty="0"/>
          </a:p>
        </p:txBody>
      </p:sp>
      <p:sp>
        <p:nvSpPr>
          <p:cNvPr id="4" name="Data circle"/>
          <p:cNvSpPr/>
          <p:nvPr/>
        </p:nvSpPr>
        <p:spPr>
          <a:xfrm>
            <a:off x="822960" y="155448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Data" descr="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1897380"/>
            <a:ext cx="685800" cy="685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Data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Marks in a register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377440" y="2240280"/>
            <a:ext cx="109728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Patterns circle"/>
          <p:cNvSpPr/>
          <p:nvPr/>
        </p:nvSpPr>
        <p:spPr>
          <a:xfrm>
            <a:off x="3657600" y="1554480"/>
            <a:ext cx="1371600" cy="13716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Patterns" descr="Patter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1897380"/>
            <a:ext cx="685800" cy="6858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29184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Patterns</a:t>
            </a:r>
            <a:endParaRPr lang="en-US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3291840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Weak in English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212080" y="2240280"/>
            <a:ext cx="109728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Decisions circle"/>
          <p:cNvSpPr/>
          <p:nvPr/>
        </p:nvSpPr>
        <p:spPr>
          <a:xfrm>
            <a:off x="6492240" y="155448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Decisions" descr="Decis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1897380"/>
            <a:ext cx="685800" cy="6858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12648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Decisions</a:t>
            </a:r>
            <a:endParaRPr lang="en-US" sz="2400" dirty="0"/>
          </a:p>
        </p:txBody>
      </p:sp>
      <p:sp>
        <p:nvSpPr>
          <p:cNvPr id="17" name="Text 11"/>
          <p:cNvSpPr txBox="1"/>
          <p:nvPr/>
        </p:nvSpPr>
        <p:spPr>
          <a:xfrm>
            <a:off x="6126480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Extra English class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</a:t>
            </a:r>
            <a:endParaRPr lang="en-US" sz="3600" dirty="0"/>
          </a:p>
        </p:txBody>
      </p:sp>
      <p:sp>
        <p:nvSpPr>
          <p:cNvPr id="4" name="Question mark circle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Question mark" descr="Question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714500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Your phone counts the data you use.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611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What question can it answer?</a:t>
            </a:r>
            <a:endParaRPr lang="en-US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931920" y="1371600"/>
          <a:ext cx="46634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Where It Is Used</a:t>
            </a:r>
            <a:endParaRPr lang="en-US" sz="3600" dirty="0"/>
          </a:p>
        </p:txBody>
      </p:sp>
      <p:sp>
        <p:nvSpPr>
          <p:cNvPr id="4" name="Weather card"/>
          <p:cNvSpPr/>
          <p:nvPr/>
        </p:nvSpPr>
        <p:spPr>
          <a:xfrm>
            <a:off x="54864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Weather circle"/>
          <p:cNvSpPr/>
          <p:nvPr/>
        </p:nvSpPr>
        <p:spPr>
          <a:xfrm>
            <a:off x="731520" y="161848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Weather" descr="Weath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78508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6733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Weather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Will it rain tomorrow?</a:t>
            </a:r>
            <a:endParaRPr lang="en-US" sz="1400" dirty="0"/>
          </a:p>
        </p:txBody>
      </p:sp>
      <p:sp>
        <p:nvSpPr>
          <p:cNvPr id="9" name="Shop card"/>
          <p:cNvSpPr/>
          <p:nvPr/>
        </p:nvSpPr>
        <p:spPr>
          <a:xfrm>
            <a:off x="329184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op circle"/>
          <p:cNvSpPr/>
          <p:nvPr/>
        </p:nvSpPr>
        <p:spPr>
          <a:xfrm>
            <a:off x="3474720" y="1618488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Shop" descr="Sh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77850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251960" y="16733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Shop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347472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How much rice to stock?</a:t>
            </a:r>
            <a:endParaRPr lang="en-US" sz="1400" dirty="0"/>
          </a:p>
        </p:txBody>
      </p:sp>
      <p:sp>
        <p:nvSpPr>
          <p:cNvPr id="14" name="Bank card"/>
          <p:cNvSpPr/>
          <p:nvPr/>
        </p:nvSpPr>
        <p:spPr>
          <a:xfrm>
            <a:off x="603504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Bank circle"/>
          <p:cNvSpPr/>
          <p:nvPr/>
        </p:nvSpPr>
        <p:spPr>
          <a:xfrm>
            <a:off x="6217920" y="1618488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Bank" descr="Ban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778508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95160" y="16733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Bank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621792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Is this payment strange?</a:t>
            </a:r>
            <a:endParaRPr lang="en-US" sz="1400" dirty="0"/>
          </a:p>
        </p:txBody>
      </p:sp>
      <p:sp>
        <p:nvSpPr>
          <p:cNvPr id="19" name="Hospital card"/>
          <p:cNvSpPr/>
          <p:nvPr/>
        </p:nvSpPr>
        <p:spPr>
          <a:xfrm>
            <a:off x="548640" y="30175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Hospital circle"/>
          <p:cNvSpPr/>
          <p:nvPr/>
        </p:nvSpPr>
        <p:spPr>
          <a:xfrm>
            <a:off x="731520" y="3218688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Hospital" descr="Hospit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3378708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08760" y="3273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Hospital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73152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Which days are busiest?</a:t>
            </a:r>
            <a:endParaRPr lang="en-US" sz="1400" dirty="0"/>
          </a:p>
        </p:txBody>
      </p:sp>
      <p:sp>
        <p:nvSpPr>
          <p:cNvPr id="24" name="Tourism card"/>
          <p:cNvSpPr/>
          <p:nvPr/>
        </p:nvSpPr>
        <p:spPr>
          <a:xfrm>
            <a:off x="3291840" y="30175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ourism circle"/>
          <p:cNvSpPr/>
          <p:nvPr/>
        </p:nvSpPr>
        <p:spPr>
          <a:xfrm>
            <a:off x="3474720" y="321868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Tourism" descr="Touris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740" y="3378708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251960" y="3273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Tourism</a:t>
            </a:r>
            <a:endParaRPr lang="en-US" sz="2000" dirty="0"/>
          </a:p>
        </p:txBody>
      </p:sp>
      <p:sp>
        <p:nvSpPr>
          <p:cNvPr id="28" name="Text 20"/>
          <p:cNvSpPr txBox="1"/>
          <p:nvPr/>
        </p:nvSpPr>
        <p:spPr>
          <a:xfrm>
            <a:off x="347472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When do visitors come?</a:t>
            </a:r>
            <a:endParaRPr lang="en-US" sz="1400" dirty="0"/>
          </a:p>
        </p:txBody>
      </p:sp>
      <p:sp>
        <p:nvSpPr>
          <p:cNvPr id="29" name="College card"/>
          <p:cNvSpPr/>
          <p:nvPr/>
        </p:nvSpPr>
        <p:spPr>
          <a:xfrm>
            <a:off x="6035040" y="30175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College circle"/>
          <p:cNvSpPr/>
          <p:nvPr/>
        </p:nvSpPr>
        <p:spPr>
          <a:xfrm>
            <a:off x="6217920" y="3218688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1" name="College" descr="Colle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3378708"/>
            <a:ext cx="320040" cy="32004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995160" y="3273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College</a:t>
            </a:r>
            <a:endParaRPr lang="en-US" sz="2000" dirty="0"/>
          </a:p>
        </p:txBody>
      </p:sp>
      <p:sp>
        <p:nvSpPr>
          <p:cNvPr id="33" name="Text 24"/>
          <p:cNvSpPr txBox="1"/>
          <p:nvPr/>
        </p:nvSpPr>
        <p:spPr>
          <a:xfrm>
            <a:off x="621792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Which subject has most fails?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Workflow</a:t>
            </a:r>
            <a:endParaRPr lang="en-US" sz="3600" dirty="0"/>
          </a:p>
        </p:txBody>
      </p:sp>
      <p:sp>
        <p:nvSpPr>
          <p:cNvPr id="4" name="Number 1"/>
          <p:cNvSpPr txBox="1"/>
          <p:nvPr/>
        </p:nvSpPr>
        <p:spPr>
          <a:xfrm>
            <a:off x="640080" y="1554480"/>
            <a:ext cx="914400" cy="9144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question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600200" y="2011680"/>
            <a:ext cx="36576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Number 2"/>
          <p:cNvSpPr txBox="1"/>
          <p:nvPr/>
        </p:nvSpPr>
        <p:spPr>
          <a:xfrm>
            <a:off x="2011680" y="1554480"/>
            <a:ext cx="914400" cy="9144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Collect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data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971800" y="2011680"/>
            <a:ext cx="36576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Number 3"/>
          <p:cNvSpPr txBox="1"/>
          <p:nvPr/>
        </p:nvSpPr>
        <p:spPr>
          <a:xfrm>
            <a:off x="3383280" y="1554480"/>
            <a:ext cx="914400" cy="9144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315468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Clean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15468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data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343400" y="2011680"/>
            <a:ext cx="36576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Number 4"/>
          <p:cNvSpPr txBox="1"/>
          <p:nvPr/>
        </p:nvSpPr>
        <p:spPr>
          <a:xfrm>
            <a:off x="4754880" y="1554480"/>
            <a:ext cx="914400" cy="9144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452628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Explore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data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715000" y="2011680"/>
            <a:ext cx="36576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Number 5"/>
          <p:cNvSpPr txBox="1"/>
          <p:nvPr/>
        </p:nvSpPr>
        <p:spPr>
          <a:xfrm>
            <a:off x="6126480" y="1554480"/>
            <a:ext cx="914400" cy="9144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5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589788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Model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89788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predict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086600" y="2011680"/>
            <a:ext cx="36576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Number 6"/>
          <p:cNvSpPr txBox="1"/>
          <p:nvPr/>
        </p:nvSpPr>
        <p:spPr>
          <a:xfrm>
            <a:off x="7498080" y="1554480"/>
            <a:ext cx="914400" cy="9144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6</a:t>
            </a:r>
            <a:endParaRPr lang="en-US" sz="2800" dirty="0"/>
          </a:p>
        </p:txBody>
      </p:sp>
      <p:sp>
        <p:nvSpPr>
          <p:cNvPr id="25" name="Text 22"/>
          <p:cNvSpPr txBox="1"/>
          <p:nvPr/>
        </p:nvSpPr>
        <p:spPr>
          <a:xfrm>
            <a:off x="726948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Share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26948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results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498080" y="3429000"/>
            <a:ext cx="0" cy="54864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97280" y="3977640"/>
            <a:ext cx="6400800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V="1">
            <a:off x="1097280" y="3429000"/>
            <a:ext cx="0" cy="54864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3017520" y="3840480"/>
            <a:ext cx="292608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New question, start again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Example: A Shop in Butwal</a:t>
            </a:r>
            <a:endParaRPr lang="en-US" sz="3600" dirty="0"/>
          </a:p>
        </p:txBody>
      </p:sp>
      <p:sp>
        <p:nvSpPr>
          <p:cNvPr id="4" name="Number 1"/>
          <p:cNvSpPr txBox="1"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1444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Ask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Top 3 items each week?</a:t>
            </a:r>
            <a:endParaRPr lang="en-US" sz="14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2514600"/>
            <a:ext cx="594360" cy="5943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496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Collect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862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Sales book, spreadsheet</a:t>
            </a:r>
            <a:endParaRPr lang="en-US" sz="1400" dirty="0"/>
          </a:p>
        </p:txBody>
      </p:sp>
      <p:sp>
        <p:nvSpPr>
          <p:cNvPr id="10" name="Number 3"/>
          <p:cNvSpPr txBox="1"/>
          <p:nvPr/>
        </p:nvSpPr>
        <p:spPr>
          <a:xfrm>
            <a:off x="548640" y="3566160"/>
            <a:ext cx="594360" cy="5943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3547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Clean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3913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Fix missing, repeated rows</a:t>
            </a:r>
            <a:endParaRPr lang="en-US" sz="1400" dirty="0"/>
          </a:p>
        </p:txBody>
      </p:sp>
      <p:sp>
        <p:nvSpPr>
          <p:cNvPr id="13" name="Number 4"/>
          <p:cNvSpPr txBox="1"/>
          <p:nvPr/>
        </p:nvSpPr>
        <p:spPr>
          <a:xfrm>
            <a:off x="4754880" y="1463040"/>
            <a:ext cx="594360" cy="5943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1444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Explore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Totals, averages, charts</a:t>
            </a:r>
            <a:endParaRPr lang="en-US" sz="1400" dirty="0"/>
          </a:p>
        </p:txBody>
      </p:sp>
      <p:sp>
        <p:nvSpPr>
          <p:cNvPr id="16" name="Number 5"/>
          <p:cNvSpPr txBox="1"/>
          <p:nvPr/>
        </p:nvSpPr>
        <p:spPr>
          <a:xfrm>
            <a:off x="4754880" y="2514600"/>
            <a:ext cx="594360" cy="5943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2496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Model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577840" y="2862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Predict next week's sales</a:t>
            </a:r>
            <a:endParaRPr lang="en-US" sz="1400" dirty="0"/>
          </a:p>
        </p:txBody>
      </p:sp>
      <p:sp>
        <p:nvSpPr>
          <p:cNvPr id="19" name="Number 6"/>
          <p:cNvSpPr txBox="1"/>
          <p:nvPr/>
        </p:nvSpPr>
        <p:spPr>
          <a:xfrm>
            <a:off x="4754880" y="3566160"/>
            <a:ext cx="594360" cy="59436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577840" y="3547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Share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5577840" y="3913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chart for the owner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Real Data Is Messy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84048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664208"/>
            <a:ext cx="3474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[78, 64, "absent", 92]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print(sum(marks))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26280" y="2194560"/>
            <a:ext cx="45720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Error card"/>
          <p:cNvSpPr/>
          <p:nvPr/>
        </p:nvSpPr>
        <p:spPr>
          <a:xfrm>
            <a:off x="5120640" y="1554480"/>
            <a:ext cx="34747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Warning circle"/>
          <p:cNvSpPr/>
          <p:nvPr/>
        </p:nvSpPr>
        <p:spPr>
          <a:xfrm>
            <a:off x="5303520" y="173736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Warning" descr="War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8745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035040" y="17190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TypeError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035040" y="20574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unsupported operand type(s) for +: 'int' and 'str'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383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Clean the data first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Missing  ·  repeated  ·  mistyped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Why Python?</a:t>
            </a:r>
            <a:endParaRPr lang="en-US" sz="3600" dirty="0"/>
          </a:p>
        </p:txBody>
      </p:sp>
      <p:sp>
        <p:nvSpPr>
          <p:cNvPr id="4" name="Easy to read card"/>
          <p:cNvSpPr/>
          <p:nvPr/>
        </p:nvSpPr>
        <p:spPr>
          <a:xfrm>
            <a:off x="548640" y="1463040"/>
            <a:ext cx="1463040" cy="27432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Easy to read circle"/>
          <p:cNvSpPr/>
          <p:nvPr/>
        </p:nvSpPr>
        <p:spPr>
          <a:xfrm>
            <a:off x="777240" y="17373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Easy to read" descr="Easy to r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931670"/>
            <a:ext cx="388620" cy="3886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27432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Easy to read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33832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Like plain English</a:t>
            </a:r>
            <a:endParaRPr lang="en-US" sz="1400" dirty="0"/>
          </a:p>
        </p:txBody>
      </p:sp>
      <p:sp>
        <p:nvSpPr>
          <p:cNvPr id="9" name="Free card"/>
          <p:cNvSpPr/>
          <p:nvPr/>
        </p:nvSpPr>
        <p:spPr>
          <a:xfrm>
            <a:off x="2194560" y="1463040"/>
            <a:ext cx="1463040" cy="27432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Free circle"/>
          <p:cNvSpPr/>
          <p:nvPr/>
        </p:nvSpPr>
        <p:spPr>
          <a:xfrm>
            <a:off x="2423160" y="173736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Free" descr="Fr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470" y="1931670"/>
            <a:ext cx="388620" cy="3886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377440" y="27432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Free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2377440" y="33832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 cost</a:t>
            </a:r>
            <a:endParaRPr lang="en-US" sz="1400" dirty="0"/>
          </a:p>
        </p:txBody>
      </p:sp>
      <p:sp>
        <p:nvSpPr>
          <p:cNvPr id="14" name="Many libraries card"/>
          <p:cNvSpPr/>
          <p:nvPr/>
        </p:nvSpPr>
        <p:spPr>
          <a:xfrm>
            <a:off x="3840480" y="1463040"/>
            <a:ext cx="1463040" cy="27432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Many libraries circle"/>
          <p:cNvSpPr/>
          <p:nvPr/>
        </p:nvSpPr>
        <p:spPr>
          <a:xfrm>
            <a:off x="4069080" y="173736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Many libraries" descr="Many librari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390" y="1931670"/>
            <a:ext cx="388620" cy="3886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023360" y="27432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Many libraries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023360" y="33832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Ready-made code</a:t>
            </a:r>
            <a:endParaRPr lang="en-US" sz="1400" dirty="0"/>
          </a:p>
        </p:txBody>
      </p:sp>
      <p:sp>
        <p:nvSpPr>
          <p:cNvPr id="19" name="Big community card"/>
          <p:cNvSpPr/>
          <p:nvPr/>
        </p:nvSpPr>
        <p:spPr>
          <a:xfrm>
            <a:off x="5486400" y="1463040"/>
            <a:ext cx="1463040" cy="27432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Big community circle"/>
          <p:cNvSpPr/>
          <p:nvPr/>
        </p:nvSpPr>
        <p:spPr>
          <a:xfrm>
            <a:off x="5715000" y="173736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Big community" descr="Big commun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10" y="1931670"/>
            <a:ext cx="388620" cy="3886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669280" y="27432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Big community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669280" y="33832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Help everywhere</a:t>
            </a:r>
            <a:endParaRPr lang="en-US" sz="1400" dirty="0"/>
          </a:p>
        </p:txBody>
      </p:sp>
      <p:sp>
        <p:nvSpPr>
          <p:cNvPr id="24" name="Runs everywhere card"/>
          <p:cNvSpPr/>
          <p:nvPr/>
        </p:nvSpPr>
        <p:spPr>
          <a:xfrm>
            <a:off x="7132320" y="1463040"/>
            <a:ext cx="1463040" cy="27432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Runs everywhere circle"/>
          <p:cNvSpPr/>
          <p:nvPr/>
        </p:nvSpPr>
        <p:spPr>
          <a:xfrm>
            <a:off x="7360920" y="17373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Runs everywhere" descr="Runs everywhe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230" y="1931670"/>
            <a:ext cx="388620" cy="3886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15200" y="27432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Runs everywhere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7315200" y="33832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Windows, macOS, Linux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Libraries We Use</a:t>
            </a:r>
            <a:endParaRPr lang="en-US" sz="3600" dirty="0"/>
          </a:p>
        </p:txBody>
      </p:sp>
      <p:sp>
        <p:nvSpPr>
          <p:cNvPr id="4" name="pandas card"/>
          <p:cNvSpPr/>
          <p:nvPr/>
        </p:nvSpPr>
        <p:spPr>
          <a:xfrm>
            <a:off x="54864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Tables of data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04872"/>
            <a:ext cx="1417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Units VII–VIII</a:t>
            </a:r>
            <a:endParaRPr lang="en-US" sz="1200" dirty="0"/>
          </a:p>
        </p:txBody>
      </p:sp>
      <p:sp>
        <p:nvSpPr>
          <p:cNvPr id="8" name="numpy card"/>
          <p:cNvSpPr/>
          <p:nvPr/>
        </p:nvSpPr>
        <p:spPr>
          <a:xfrm>
            <a:off x="329184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520440" y="1600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52044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Fast number work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2404872"/>
            <a:ext cx="14173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Unit VIII</a:t>
            </a:r>
            <a:endParaRPr lang="en-US" sz="1200" dirty="0"/>
          </a:p>
        </p:txBody>
      </p:sp>
      <p:sp>
        <p:nvSpPr>
          <p:cNvPr id="12" name="matplotlib card"/>
          <p:cNvSpPr/>
          <p:nvPr/>
        </p:nvSpPr>
        <p:spPr>
          <a:xfrm>
            <a:off x="6035040" y="14173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263640" y="1600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Charts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2404872"/>
            <a:ext cx="14173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Units VIII, X</a:t>
            </a:r>
            <a:endParaRPr lang="en-US" sz="1200" dirty="0"/>
          </a:p>
        </p:txBody>
      </p:sp>
      <p:sp>
        <p:nvSpPr>
          <p:cNvPr id="16" name="seaborn card"/>
          <p:cNvSpPr/>
          <p:nvPr/>
        </p:nvSpPr>
        <p:spPr>
          <a:xfrm>
            <a:off x="548640" y="30175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7724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seaborn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Statistical charts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005072"/>
            <a:ext cx="14173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Units VIII, X</a:t>
            </a:r>
            <a:endParaRPr lang="en-US" sz="1200" dirty="0"/>
          </a:p>
        </p:txBody>
      </p:sp>
      <p:sp>
        <p:nvSpPr>
          <p:cNvPr id="20" name="scikit-learn card"/>
          <p:cNvSpPr/>
          <p:nvPr/>
        </p:nvSpPr>
        <p:spPr>
          <a:xfrm>
            <a:off x="3291840" y="30175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352044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3520440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Machine learning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520440" y="4005072"/>
            <a:ext cx="14173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Unit IX</a:t>
            </a:r>
            <a:endParaRPr lang="en-US" sz="1200" dirty="0"/>
          </a:p>
        </p:txBody>
      </p:sp>
      <p:sp>
        <p:nvSpPr>
          <p:cNvPr id="24" name="plotly + dash card"/>
          <p:cNvSpPr/>
          <p:nvPr/>
        </p:nvSpPr>
        <p:spPr>
          <a:xfrm>
            <a:off x="6035040" y="301752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26364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plotly + dash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6263640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Dashboards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4005072"/>
            <a:ext cx="14173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Unit 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First Look at Python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256032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Variable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984248"/>
            <a:ext cx="21945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"Asha"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78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print(name, marks)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37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Output 1"/>
          <p:cNvSpPr/>
          <p:nvPr/>
        </p:nvSpPr>
        <p:spPr>
          <a:xfrm>
            <a:off x="548640" y="3611880"/>
            <a:ext cx="25603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3657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Asha 78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1371600"/>
            <a:ext cx="2560320" cy="36576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 type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91840" y="187452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74720" y="1984248"/>
            <a:ext cx="21945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print(type(78))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print(type("Asha"))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3337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OUTPUT</a:t>
            </a:r>
            <a:endParaRPr lang="en-US" sz="1100" dirty="0"/>
          </a:p>
        </p:txBody>
      </p:sp>
      <p:sp>
        <p:nvSpPr>
          <p:cNvPr id="14" name="Output 2"/>
          <p:cNvSpPr/>
          <p:nvPr/>
        </p:nvSpPr>
        <p:spPr>
          <a:xfrm>
            <a:off x="3291840" y="3611880"/>
            <a:ext cx="25603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474720" y="3657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'int'&gt;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'str'&gt;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1371600"/>
            <a:ext cx="256032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Operator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35040" y="1874520"/>
            <a:ext cx="256032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0" y="1984248"/>
            <a:ext cx="21945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= (78+64+85)/3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print(round(avg, 2))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035040" y="3337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OUTPUT</a:t>
            </a:r>
            <a:endParaRPr lang="en-US" sz="1100" dirty="0"/>
          </a:p>
        </p:txBody>
      </p:sp>
      <p:sp>
        <p:nvSpPr>
          <p:cNvPr id="20" name="Output 3"/>
          <p:cNvSpPr/>
          <p:nvPr/>
        </p:nvSpPr>
        <p:spPr>
          <a:xfrm>
            <a:off x="6035040" y="3611880"/>
            <a:ext cx="25603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217920" y="3657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75.67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Where Do I Write Python?</a:t>
            </a:r>
            <a:endParaRPr lang="en-US" sz="3600" dirty="0"/>
          </a:p>
        </p:txBody>
      </p:sp>
      <p:sp>
        <p:nvSpPr>
          <p:cNvPr id="4" name="Anaconda card"/>
          <p:cNvSpPr/>
          <p:nvPr/>
        </p:nvSpPr>
        <p:spPr>
          <a:xfrm>
            <a:off x="548640" y="141732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Anaconda circle"/>
          <p:cNvSpPr/>
          <p:nvPr/>
        </p:nvSpPr>
        <p:spPr>
          <a:xfrm>
            <a:off x="77724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Anaconda" descr="Anacon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Anaconda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Everything ready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3192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About 9.7 GB</a:t>
            </a:r>
            <a:endParaRPr lang="en-US" sz="1400" dirty="0"/>
          </a:p>
        </p:txBody>
      </p:sp>
      <p:sp>
        <p:nvSpPr>
          <p:cNvPr id="10" name="Miniconda card"/>
          <p:cNvSpPr/>
          <p:nvPr/>
        </p:nvSpPr>
        <p:spPr>
          <a:xfrm>
            <a:off x="2621585" y="141732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Miniconda circle"/>
          <p:cNvSpPr/>
          <p:nvPr/>
        </p:nvSpPr>
        <p:spPr>
          <a:xfrm>
            <a:off x="2850185" y="16459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Miniconda" descr="Minicon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065" y="18288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50185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Miniconda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2850185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Small start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2850185" y="33192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About 900 MB</a:t>
            </a:r>
            <a:endParaRPr lang="en-US" sz="1400" dirty="0"/>
          </a:p>
        </p:txBody>
      </p:sp>
      <p:sp>
        <p:nvSpPr>
          <p:cNvPr id="16" name="Plain Python card"/>
          <p:cNvSpPr/>
          <p:nvPr/>
        </p:nvSpPr>
        <p:spPr>
          <a:xfrm>
            <a:off x="4694530" y="141732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Plain Python circle"/>
          <p:cNvSpPr/>
          <p:nvPr/>
        </p:nvSpPr>
        <p:spPr>
          <a:xfrm>
            <a:off x="492313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Plain Python" descr="Plain Pyth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010" y="18288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92313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Plain Python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92313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Smallest, no conda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4923130" y="33192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venv + pip</a:t>
            </a:r>
            <a:endParaRPr lang="en-US" sz="1400" dirty="0"/>
          </a:p>
        </p:txBody>
      </p:sp>
      <p:sp>
        <p:nvSpPr>
          <p:cNvPr id="22" name="Google Colab card"/>
          <p:cNvSpPr/>
          <p:nvPr/>
        </p:nvSpPr>
        <p:spPr>
          <a:xfrm>
            <a:off x="6767474" y="141732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Google Colab circle"/>
          <p:cNvSpPr/>
          <p:nvPr/>
        </p:nvSpPr>
        <p:spPr>
          <a:xfrm>
            <a:off x="6996074" y="164592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Google Colab" descr="Google Cola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954" y="182880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996074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Google Colab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6996074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 the browser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6996074" y="33192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Nothing to install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Then write code in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Jupyter Notebook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(browser) or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VS Code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(editor)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Which One Should I Use?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554480"/>
            <a:ext cx="2103120" cy="118872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Can you install software?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508760" y="2743200"/>
            <a:ext cx="0" cy="50292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1645920" y="2834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246120"/>
            <a:ext cx="2103120" cy="640080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Google Colab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0" y="2148840"/>
            <a:ext cx="54864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2633472" y="1828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Yes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108960" y="1554480"/>
            <a:ext cx="2103120" cy="1188720"/>
          </a:xfrm>
          <a:prstGeom prst="diamon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What suits you?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1280160"/>
            <a:ext cx="237744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Anaconda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Everything ready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 flipV="1">
            <a:off x="5212080" y="1600200"/>
            <a:ext cx="530352" cy="5486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5760720" y="2011680"/>
            <a:ext cx="237744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Miniconda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Smaller, uses conda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12080" y="2148840"/>
            <a:ext cx="530352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5760720" y="2743200"/>
            <a:ext cx="237744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Plain Python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Smallest, no conda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212080" y="2148840"/>
            <a:ext cx="530352" cy="91440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108960" y="3931920"/>
            <a:ext cx="50292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91840" y="3931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Then write code in: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983480" y="4050792"/>
            <a:ext cx="15544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Jupyter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browser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4050792"/>
            <a:ext cx="13716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VS Code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editor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Jupyter Notebook</a:t>
            </a:r>
            <a:endParaRPr lang="en-US" sz="3600" dirty="0"/>
          </a:p>
        </p:txBody>
      </p:sp>
      <p:pic>
        <p:nvPicPr>
          <p:cNvPr id="4" name="Image 0" descr="Jupyter notebook with a text cell, a code cell that prints Hello, Data Science!, and a code cell that works out an aver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754880" cy="334327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sp>
        <p:nvSpPr>
          <p:cNvPr id="5" name="Number 1"/>
          <p:cNvSpPr txBox="1"/>
          <p:nvPr/>
        </p:nvSpPr>
        <p:spPr>
          <a:xfrm>
            <a:off x="4882325" y="2191131"/>
            <a:ext cx="292608" cy="29260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Number 2"/>
          <p:cNvSpPr txBox="1"/>
          <p:nvPr/>
        </p:nvSpPr>
        <p:spPr>
          <a:xfrm>
            <a:off x="4882325" y="3090101"/>
            <a:ext cx="292608" cy="29260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7" name="Number 3"/>
          <p:cNvSpPr txBox="1"/>
          <p:nvPr/>
        </p:nvSpPr>
        <p:spPr>
          <a:xfrm>
            <a:off x="4882325" y="4367975"/>
            <a:ext cx="292608" cy="29260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Number 1"/>
          <p:cNvSpPr txBox="1"/>
          <p:nvPr/>
        </p:nvSpPr>
        <p:spPr>
          <a:xfrm>
            <a:off x="5852160" y="178308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492240" y="17556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Text cell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2075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Notes for people</a:t>
            </a:r>
            <a:endParaRPr lang="en-US" sz="1400" dirty="0"/>
          </a:p>
        </p:txBody>
      </p:sp>
      <p:sp>
        <p:nvSpPr>
          <p:cNvPr id="11" name="Number 2"/>
          <p:cNvSpPr txBox="1"/>
          <p:nvPr/>
        </p:nvSpPr>
        <p:spPr>
          <a:xfrm>
            <a:off x="5852160" y="278892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761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Code cell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3081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You type Python</a:t>
            </a:r>
            <a:endParaRPr lang="en-US" sz="1400" dirty="0"/>
          </a:p>
        </p:txBody>
      </p:sp>
      <p:sp>
        <p:nvSpPr>
          <p:cNvPr id="14" name="Number 3"/>
          <p:cNvSpPr txBox="1"/>
          <p:nvPr/>
        </p:nvSpPr>
        <p:spPr>
          <a:xfrm>
            <a:off x="5852160" y="379476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3767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Result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4087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Shown right below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Quick Recap</a:t>
            </a:r>
            <a:endParaRPr lang="en-US" sz="3600" dirty="0"/>
          </a:p>
        </p:txBody>
      </p:sp>
      <p:sp>
        <p:nvSpPr>
          <p:cNvPr id="4" name="Check 1 circle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485900"/>
            <a:ext cx="228600" cy="228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Data science turns data into decisions</a:t>
            </a:r>
            <a:endParaRPr lang="en-US" sz="2000" dirty="0"/>
          </a:p>
        </p:txBody>
      </p:sp>
      <p:sp>
        <p:nvSpPr>
          <p:cNvPr id="7" name="Check 2 circle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125980"/>
            <a:ext cx="228600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3444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Six steps, and the cycle repeats</a:t>
            </a:r>
            <a:endParaRPr lang="en-US" sz="2000" dirty="0"/>
          </a:p>
        </p:txBody>
      </p:sp>
      <p:sp>
        <p:nvSpPr>
          <p:cNvPr id="10" name="Check 3 circle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76606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3444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Python: easy, free, many libraries</a:t>
            </a:r>
            <a:endParaRPr lang="en-US" sz="2000" dirty="0"/>
          </a:p>
        </p:txBody>
      </p:sp>
      <p:sp>
        <p:nvSpPr>
          <p:cNvPr id="13" name="Check 4 circle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Check 4" descr="Check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3406140"/>
            <a:ext cx="228600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3444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Pick one setup: Anaconda, Miniconda, plain Python or Colab</a:t>
            </a:r>
            <a:endParaRPr lang="en-US" sz="2000" dirty="0"/>
          </a:p>
        </p:txBody>
      </p:sp>
      <p:sp>
        <p:nvSpPr>
          <p:cNvPr id="16" name="Check 5 circle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Check 5" descr="Check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4046220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23444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Write code in Jupyter or VS Code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1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Next</a:t>
            </a:r>
            <a:endParaRPr lang="en-US" sz="3600" dirty="0"/>
          </a:p>
        </p:txBody>
      </p:sp>
      <p:sp>
        <p:nvSpPr>
          <p:cNvPr id="3" name="Rocket circle"/>
          <p:cNvSpPr/>
          <p:nvPr/>
        </p:nvSpPr>
        <p:spPr>
          <a:xfrm>
            <a:off x="548640" y="1554480"/>
            <a:ext cx="1097280" cy="10972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Rocket" descr="Rock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011680" y="1508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Lab 1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2103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Set up Python and run a first script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3200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Then: Unit II, Python basics and operators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SC 481 Notes">
  <a:themeElements>
    <a:clrScheme name="DSC 481 Notes">
      <a:dk1>
        <a:srgbClr val="14202E"/>
      </a:dk1>
      <a:lt1>
        <a:srgbClr val="F7F8FA"/>
      </a:lt1>
      <a:dk2>
        <a:srgbClr val="0D366B"/>
      </a:dk2>
      <a:lt2>
        <a:srgbClr val="E4ECF8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566175"/>
      </a:accent5>
      <a:accent6>
        <a:srgbClr val="C93C3C"/>
      </a:accent6>
      <a:hlink>
        <a:srgbClr val="1C5CAB"/>
      </a:hlink>
      <a:folHlink>
        <a:srgbClr val="4A3AA7"/>
      </a:folHlink>
    </a:clrScheme>
    <a:fontScheme name="DSC 481 Note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I: Introduction to Data Science and Python</dc:title>
  <dc:subject>PptxGenJS Presentation</dc:subject>
  <dc:creator>DSC 481</dc:creator>
  <cp:lastModifiedBy>DSC 481</cp:lastModifiedBy>
  <cp:revision>1</cp:revision>
  <dcterms:created xsi:type="dcterms:W3CDTF">2026-10-06T03:32:45Z</dcterms:created>
  <dcterms:modified xsi:type="dcterms:W3CDTF">2026-10-06T03:32:45Z</dcterms:modified>
</cp:coreProperties>
</file>